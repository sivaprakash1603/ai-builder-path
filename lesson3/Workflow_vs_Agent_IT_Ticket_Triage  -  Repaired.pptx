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947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8F1F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8F1F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292608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9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vs. 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IT Support Ticket Triage &amp; Resolution Two Ways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58368" y="33375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examined:  </a:t>
            </a: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Software Engineering Helpdesk Ticket Handling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Assignment — Agentic AI &amp; Workflow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59752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vs. Agent — IT Ticket Triage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8F1F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Process: IT Support Ticket Triage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reality on any engineering / IT team — chosen because it has both routine cases and messy edge cases.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today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or customer reports an issue — login failure, deploy error, VPN drop, laptop won't boot, permissions request.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IT/Support must triage: what is it, how urgent, who should fix it, and how.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high (dozens–hundreds/day); severity ranges from trivial to production-down.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tickets fit known patterns; others need investigation across multiple systems.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a good test case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0" y="2331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icons/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45059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69480" y="23042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slice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69480" y="25877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resets, access requests — same steps, every time.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3291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341071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32644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slice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269480" y="35478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outages need investigation, not a script.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58368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437083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69480" y="42245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decision point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269480" y="450799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an honest choice: rules or reasoning?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159752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vs. Agent — IT Ticket Triage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1 — The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predictable steps — Step 1 → Step 2 → Step 3 …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664208" cy="288036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2416" y="23500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4688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10896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Receive Ticket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" y="3657600"/>
            <a:ext cx="14264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via helpdesk form, email, or Slack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057400" y="3488436"/>
            <a:ext cx="292608" cy="201168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350008" y="2148840"/>
            <a:ext cx="1664208" cy="288036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89504" y="23500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376" y="24688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41448" y="310896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Categorize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468880" y="3657600"/>
            <a:ext cx="14264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rules sort into Hardware / Software / Network / Access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904488" y="3488436"/>
            <a:ext cx="292608" cy="201168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197096" y="2148840"/>
            <a:ext cx="1664208" cy="288036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36592" y="23500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246888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88536" y="310896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 Priority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315968" y="3657600"/>
            <a:ext cx="14264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SLA matrix maps category + keywords → P1–P4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751576" y="3488436"/>
            <a:ext cx="292608" cy="201168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044184" y="2148840"/>
            <a:ext cx="1664208" cy="288036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583680" y="23500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s/sh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246888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35624" y="310896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Route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163056" y="3657600"/>
            <a:ext cx="14264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auto-assigned to the matching team queue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598664" y="3488436"/>
            <a:ext cx="292608" cy="201168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7891272" y="2148840"/>
            <a:ext cx="1664208" cy="288036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430768" y="23500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icons/checkli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2468880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982712" y="310896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Resolve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010144" y="3657600"/>
            <a:ext cx="14264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follows a runbook / checklist for that category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9445752" y="3488436"/>
            <a:ext cx="292608" cy="201168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9738360" y="2148840"/>
            <a:ext cx="1664208" cy="288036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10277856" y="23500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6728" y="2468880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829800" y="310896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Close &amp; Survey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9857232" y="3657600"/>
            <a:ext cx="14264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closed; CSAT survey auto-sent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02920" y="534924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777240" y="53492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takes the same path in the same order. No step is skipped or reordered, regardless of content.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1: Workflow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7159752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vs. Agent — IT Ticket Triage</a:t>
            </a:r>
            <a:endParaRPr lang="en-US" sz="10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— How It Behaves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91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not reasoning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priority come from a lookup table (keyword → SLA tier), not judgment about the situation.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65176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0440" y="14904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order, every 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0116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always precedes step 3; a step can't be skipped even if obviously irrelevant.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651760" cy="91440"/>
          </a:xfrm>
          <a:prstGeom prst="rect">
            <a:avLst/>
          </a:prstGeom>
          <a:solidFill>
            <a:srgbClr val="5B6B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4904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 the unexpected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that doesn't match a keyword falls into a default bucket and often gets mis-routed.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98280" y="12344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098280" y="1234440"/>
            <a:ext cx="2651760" cy="91440"/>
          </a:xfrm>
          <a:prstGeom prst="rect">
            <a:avLst/>
          </a:prstGeom>
          <a:solidFill>
            <a:srgbClr val="3D83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81160" y="14904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81160" y="20116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ticket's path is identical and traceable — ideal for compliance and SLA reporting.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11247120" cy="2377440"/>
          </a:xfrm>
          <a:prstGeom prst="roundRect">
            <a:avLst>
              <a:gd name="adj" fmla="val 307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34340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 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cheap, consistent, and easy to explain to an auditor. Great for the 80% of tickets that are routine.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adapt when a ticket doesn't fit the categories the designer anticipated — it just fails predictably instead of failing gracefully.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1: Workflow (detail)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59752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vs. Agent — IT Ticket Triage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2 — The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"Based on this ticket, I'll decide which tools to use, in which order."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81144" y="2103120"/>
            <a:ext cx="2103120" cy="2103120"/>
          </a:xfrm>
          <a:prstGeom prst="ellipse">
            <a:avLst/>
          </a:prstGeom>
          <a:solidFill>
            <a:srgbClr val="E8933C"/>
          </a:solidFill>
          <a:ln w="254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2587752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81144" y="34107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352544" y="37216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ticket + context,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next action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02920" y="2651760"/>
            <a:ext cx="1737360" cy="1005840"/>
          </a:xfrm>
          <a:prstGeom prst="roundRect">
            <a:avLst>
              <a:gd name="adj" fmla="val 636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in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26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6207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286000" y="3054096"/>
            <a:ext cx="457200" cy="201168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815584" y="3154680"/>
            <a:ext cx="2322576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815584" y="3154680"/>
            <a:ext cx="4014216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815584" y="3154680"/>
            <a:ext cx="4288536" cy="4572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815584" y="3154680"/>
            <a:ext cx="4014216" cy="73152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815584" y="3154680"/>
            <a:ext cx="2322576" cy="150876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815584" y="3154680"/>
            <a:ext cx="0" cy="155448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955280" y="130302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2B3A7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046720" y="145389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157276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86800" y="13578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686800" y="17236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past fixes / docs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9646920" y="208026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2B3A7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9738360" y="223113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icons/ac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232" y="235000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378440" y="213512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API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0378440" y="25008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live service status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9921240" y="276606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2B3A7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0012680" y="291693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icons/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1552" y="303580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652760" y="282092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History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0652760" y="31866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past requests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9646920" y="345186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2B3A7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9738360" y="360273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icons/termin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7232" y="3721608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378440" y="350672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Script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10378440" y="38724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automated checks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7955280" y="422910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2B3A7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8046720" y="43799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6" descr="icons/escal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5592" y="4498848"/>
            <a:ext cx="329184" cy="32918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686800" y="428396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Human</a:t>
            </a:r>
            <a:endParaRPr lang="en-US" sz="1050" dirty="0"/>
          </a:p>
        </p:txBody>
      </p:sp>
      <p:sp>
        <p:nvSpPr>
          <p:cNvPr id="43" name="Text 34"/>
          <p:cNvSpPr/>
          <p:nvPr/>
        </p:nvSpPr>
        <p:spPr>
          <a:xfrm>
            <a:off x="8686800" y="464972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P1 incidents</a:t>
            </a:r>
            <a:endParaRPr lang="en-US" sz="850" dirty="0"/>
          </a:p>
        </p:txBody>
      </p:sp>
      <p:sp>
        <p:nvSpPr>
          <p:cNvPr id="44" name="Shape 35"/>
          <p:cNvSpPr/>
          <p:nvPr/>
        </p:nvSpPr>
        <p:spPr>
          <a:xfrm>
            <a:off x="5129784" y="427482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2B3A7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6"/>
          <p:cNvSpPr/>
          <p:nvPr/>
        </p:nvSpPr>
        <p:spPr>
          <a:xfrm>
            <a:off x="5221224" y="442569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7" descr="icons/hel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0096" y="4544568"/>
            <a:ext cx="329184" cy="329184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861304" y="43296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Clarifying Q.</a:t>
            </a:r>
            <a:endParaRPr lang="en-US" sz="1050" dirty="0"/>
          </a:p>
        </p:txBody>
      </p:sp>
      <p:sp>
        <p:nvSpPr>
          <p:cNvPr id="48" name="Text 38"/>
          <p:cNvSpPr/>
          <p:nvPr/>
        </p:nvSpPr>
        <p:spPr>
          <a:xfrm>
            <a:off x="5861304" y="46954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the user back</a:t>
            </a:r>
            <a:endParaRPr lang="en-US" sz="850" dirty="0"/>
          </a:p>
        </p:txBody>
      </p:sp>
      <p:sp>
        <p:nvSpPr>
          <p:cNvPr id="49" name="Shape 39"/>
          <p:cNvSpPr/>
          <p:nvPr/>
        </p:nvSpPr>
        <p:spPr>
          <a:xfrm>
            <a:off x="502920" y="5897880"/>
            <a:ext cx="11183112" cy="502920"/>
          </a:xfrm>
          <a:prstGeom prst="roundRect">
            <a:avLst>
              <a:gd name="adj" fmla="val 10909"/>
            </a:avLst>
          </a:prstGeom>
          <a:solidFill>
            <a:srgbClr val="2B3A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0"/>
          <p:cNvSpPr/>
          <p:nvPr/>
        </p:nvSpPr>
        <p:spPr>
          <a:xfrm>
            <a:off x="731520" y="58978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9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chooses which tools to call, in what order, and when to stop — a P1 outage and a password reset take completely different paths.</a:t>
            </a:r>
            <a:endParaRPr lang="en-US" sz="1150" dirty="0"/>
          </a:p>
        </p:txBody>
      </p:sp>
      <p:sp>
        <p:nvSpPr>
          <p:cNvPr id="51" name="Text 4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2: Agent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7159752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vs. Agent — IT Ticket Triage</a:t>
            </a:r>
            <a:endParaRPr lang="en-US" sz="10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8F1F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— A Worked Example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"I can't log into the deployment dashboard, started 10 minutes ago."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27632"/>
            <a:ext cx="310896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2075688"/>
            <a:ext cx="0" cy="54864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25880" y="1490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reasons about severity from context — “recent, dashboard-wide login failure” sounds systemic, not personal.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743200"/>
            <a:ext cx="310896" cy="3108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2960" y="3191256"/>
            <a:ext cx="0" cy="54864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325880" y="26060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choice 1: calls the Monitoring API for the auth service → finds an active incident.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739896"/>
            <a:ext cx="548640" cy="548640"/>
          </a:xfrm>
          <a:prstGeom prst="ellipse">
            <a:avLst/>
          </a:prstGeom>
          <a:solidFill>
            <a:srgbClr val="E893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escal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858768"/>
            <a:ext cx="310896" cy="31089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4306824"/>
            <a:ext cx="0" cy="54864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1325880" y="372160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skips knowledge-base search entirely (already has the answer) and escalates directly to the on-call engineer as P1.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855464"/>
            <a:ext cx="548640" cy="548640"/>
          </a:xfrm>
          <a:prstGeom prst="ellipse">
            <a:avLst/>
          </a:prstGeom>
          <a:solidFill>
            <a:srgbClr val="3D83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97433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83717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user: posts a status-page link and an ETA instead of a generic “ticket received” message.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457200" y="56235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731520" y="562356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the workflow: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version would have categorized this as generic “Software / Access”, assigned P3, and routed it to the standard queue — missing the live incident entirely.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2: Agent (worked example)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159752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vs. Agent — IT Ticket Triage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Both Designs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246120" cy="621792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794760" y="1234440"/>
            <a:ext cx="379476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0" y="1234440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1234440"/>
            <a:ext cx="3886200" cy="621792"/>
          </a:xfrm>
          <a:prstGeom prst="rect">
            <a:avLst/>
          </a:prstGeom>
          <a:solidFill>
            <a:srgbClr val="E8933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18120" y="1234440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3246120" cy="621792"/>
          </a:xfrm>
          <a:prstGeom prst="rect">
            <a:avLst/>
          </a:prstGeom>
          <a:solidFill>
            <a:srgbClr val="E3E9EC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856232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taken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94760" y="1856232"/>
            <a:ext cx="3794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1856232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for every ticket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1856232"/>
            <a:ext cx="3886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185623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ticket content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78024"/>
            <a:ext cx="3246120" cy="621792"/>
          </a:xfrm>
          <a:prstGeom prst="rect">
            <a:avLst/>
          </a:prstGeom>
          <a:solidFill>
            <a:srgbClr val="E3E9EC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478024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0" y="2478024"/>
            <a:ext cx="3794760" cy="621792"/>
          </a:xfrm>
          <a:prstGeom prst="rect">
            <a:avLst/>
          </a:prstGeom>
          <a:solidFill>
            <a:srgbClr val="F2F5F7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0" y="2478024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 / keyword lookup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2478024"/>
            <a:ext cx="3886200" cy="621792"/>
          </a:xfrm>
          <a:prstGeom prst="rect">
            <a:avLst/>
          </a:prstGeom>
          <a:solidFill>
            <a:srgbClr val="F2F5F7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18120" y="2478024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over context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99816"/>
            <a:ext cx="3246120" cy="621792"/>
          </a:xfrm>
          <a:prstGeom prst="rect">
            <a:avLst/>
          </a:prstGeom>
          <a:solidFill>
            <a:srgbClr val="E3E9EC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099816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novel cases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94760" y="3099816"/>
            <a:ext cx="3794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31920" y="3099816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— defaults or mis-routes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3099816"/>
            <a:ext cx="3886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18120" y="3099816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— investigates dynamically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721608"/>
            <a:ext cx="3246120" cy="621792"/>
          </a:xfrm>
          <a:prstGeom prst="rect">
            <a:avLst/>
          </a:prstGeom>
          <a:solidFill>
            <a:srgbClr val="E3E9EC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3721608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94760" y="3721608"/>
            <a:ext cx="3794760" cy="621792"/>
          </a:xfrm>
          <a:prstGeom prst="rect">
            <a:avLst/>
          </a:prstGeom>
          <a:solidFill>
            <a:srgbClr val="F2F5F7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31920" y="3721608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80960" y="3721608"/>
            <a:ext cx="3886200" cy="621792"/>
          </a:xfrm>
          <a:prstGeom prst="rect">
            <a:avLst/>
          </a:prstGeom>
          <a:solidFill>
            <a:srgbClr val="F2F5F7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18120" y="3721608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Lower, but improving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343400"/>
            <a:ext cx="3246120" cy="621792"/>
          </a:xfrm>
          <a:prstGeom prst="rect">
            <a:avLst/>
          </a:prstGeom>
          <a:solidFill>
            <a:srgbClr val="E3E9EC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4343400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ticket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94760" y="4343400"/>
            <a:ext cx="3794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931920" y="4343400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80960" y="4343400"/>
            <a:ext cx="3886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818120" y="4343400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(model + tool calls)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965192"/>
            <a:ext cx="3246120" cy="621792"/>
          </a:xfrm>
          <a:prstGeom prst="rect">
            <a:avLst/>
          </a:prstGeom>
          <a:solidFill>
            <a:srgbClr val="E3E9EC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4360" y="4965192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94760" y="4965192"/>
            <a:ext cx="3794760" cy="621792"/>
          </a:xfrm>
          <a:prstGeom prst="rect">
            <a:avLst/>
          </a:prstGeom>
          <a:solidFill>
            <a:srgbClr val="F2F5F7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931920" y="4965192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80960" y="4965192"/>
            <a:ext cx="3886200" cy="621792"/>
          </a:xfrm>
          <a:prstGeom prst="rect">
            <a:avLst/>
          </a:prstGeom>
          <a:solidFill>
            <a:srgbClr val="F2F5F7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818120" y="496519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(multi-step reasoning)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5586984"/>
            <a:ext cx="3246120" cy="621792"/>
          </a:xfrm>
          <a:prstGeom prst="rect">
            <a:avLst/>
          </a:prstGeom>
          <a:solidFill>
            <a:srgbClr val="E3E9EC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4360" y="5586984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794760" y="5586984"/>
            <a:ext cx="3794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931920" y="5586984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same trace every time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680960" y="5586984"/>
            <a:ext cx="3886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818120" y="5586984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logging agent's reasoning/tool calls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6208776"/>
            <a:ext cx="3246120" cy="621792"/>
          </a:xfrm>
          <a:prstGeom prst="rect">
            <a:avLst/>
          </a:prstGeom>
          <a:solidFill>
            <a:srgbClr val="E3E9EC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94360" y="6208776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794760" y="6208776"/>
            <a:ext cx="3794760" cy="621792"/>
          </a:xfrm>
          <a:prstGeom prst="rect">
            <a:avLst/>
          </a:prstGeom>
          <a:solidFill>
            <a:srgbClr val="F2F5F7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931920" y="6208776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routine, compliance-bound work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680960" y="6208776"/>
            <a:ext cx="3886200" cy="621792"/>
          </a:xfrm>
          <a:prstGeom prst="rect">
            <a:avLst/>
          </a:prstGeom>
          <a:solidFill>
            <a:srgbClr val="F2F5F7"/>
          </a:solidFill>
          <a:ln w="9525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818120" y="6208776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Ambiguous, cross-system, novel diagnosis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59752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vs. Agent — IT Ticket Triage</a:t>
            </a:r>
            <a:endParaRPr lang="en-US" sz="10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Which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choice depends on the shape of the problem, not personal preference.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9019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Workflow when…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space is well understood and finite (known categories, known fixes)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high and speed/cost per ticket matters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or SLA rules require an identical, auditable path every time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junior or the process must be idiot-proof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from rigidity are cheaper than errors from unpredictability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E89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19019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Agent when…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46888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are varied, ambiguous, or span multiple systems to diagnose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“rule table” would need to be huge, or keeps needing new rules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context (a live outage, an odd combination of symptoms) is common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cost/latency is acceptable for a better outcome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log and review the agent's reasoning for trust and QA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159752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vs. Agent — IT Ticket Triage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Conclusion: A Hybrid, Not a Choice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this process is best served by combining both patterns.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2B3A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43100" y="22860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548" y="24414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46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+ first-pass triage stays a fixed workflow — fast, cheap, consistent for the routine majority.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23360" y="3401568"/>
            <a:ext cx="411480" cy="23774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89120" y="19659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2B3A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83580" y="2286000"/>
            <a:ext cx="731520" cy="731520"/>
          </a:xfrm>
          <a:prstGeom prst="ellipse">
            <a:avLst/>
          </a:prstGeom>
          <a:solidFill>
            <a:srgbClr val="E893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244144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246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63440" y="37033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flagged ambiguous, high-severity, or cross-system is handed to the agent to investigate dynamically.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863840" y="3401568"/>
            <a:ext cx="411480" cy="23774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29600" y="19659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2B3A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24060" y="2286000"/>
            <a:ext cx="731520" cy="731520"/>
          </a:xfrm>
          <a:prstGeom prst="ellipse">
            <a:avLst/>
          </a:prstGeom>
          <a:solidFill>
            <a:srgbClr val="3D83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508" y="244144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3246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503920" y="37033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cost and SLA on routine work; better outcomes on the hard cases that actually matter.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54406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89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22960" y="544068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use a workflow to handle the volume, and an agent to handle the exceptions — not the other way around.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7159752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vs. Agent — IT Ticket Triage</a:t>
            </a:r>
            <a:endParaRPr lang="en-US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8F1F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1157</Words>
  <Application>Microsoft Macintosh PowerPoint</Application>
  <PresentationFormat>Widescreen</PresentationFormat>
  <Paragraphs>161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S, Sivaprakash</cp:lastModifiedBy>
  <cp:revision>2</cp:revision>
  <dcterms:created xsi:type="dcterms:W3CDTF">2026-07-28T17:42:58Z</dcterms:created>
  <dcterms:modified xsi:type="dcterms:W3CDTF">2026-07-28T17:45:35Z</dcterms:modified>
</cp:coreProperties>
</file>